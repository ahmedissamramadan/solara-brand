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jX852axxZvES4Cej/Mp9cknU7N1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B5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6217920" y="-1097280"/>
            <a:ext cx="4572000" cy="4572000"/>
          </a:xfrm>
          <a:prstGeom prst="ellipse">
            <a:avLst/>
          </a:prstGeom>
          <a:solidFill>
            <a:srgbClr val="2E4080">
              <a:alpha val="50196"/>
            </a:srgbClr>
          </a:solidFill>
          <a:ln cap="flat" cmpd="sng" w="12700">
            <a:solidFill>
              <a:srgbClr val="2E4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7132320" y="2286000"/>
            <a:ext cx="2743200" cy="2743200"/>
          </a:xfrm>
          <a:prstGeom prst="ellipse">
            <a:avLst/>
          </a:prstGeom>
          <a:solidFill>
            <a:srgbClr val="F0A500">
              <a:alpha val="30196"/>
            </a:srgbClr>
          </a:solidFill>
          <a:ln cap="flat" cmpd="sng" w="12700">
            <a:solidFill>
              <a:srgbClr val="F0A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548640" y="1371600"/>
            <a:ext cx="73152" cy="2286000"/>
          </a:xfrm>
          <a:prstGeom prst="rect">
            <a:avLst/>
          </a:prstGeom>
          <a:solidFill>
            <a:srgbClr val="F0A500"/>
          </a:solidFill>
          <a:ln cap="flat" cmpd="sng" w="12700">
            <a:solidFill>
              <a:srgbClr val="F0A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731520" y="128016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C948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F7C948"/>
                </a:solidFill>
                <a:latin typeface="Calibri"/>
                <a:ea typeface="Calibri"/>
                <a:cs typeface="Calibri"/>
                <a:sym typeface="Calibri"/>
              </a:rPr>
              <a:t>دليلك الكامل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731520" y="1737360"/>
            <a:ext cx="73152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لبناء براند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ناجح من الصفر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731520" y="338328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099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7A8099"/>
                </a:solidFill>
                <a:latin typeface="Calibri"/>
                <a:ea typeface="Calibri"/>
                <a:cs typeface="Calibri"/>
                <a:sym typeface="Calibri"/>
              </a:rPr>
              <a:t>8 خطوات عملية ومفصلة تمشي عليها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731520" y="4023360"/>
            <a:ext cx="2011680" cy="640080"/>
          </a:xfrm>
          <a:prstGeom prst="roundRect">
            <a:avLst>
              <a:gd fmla="val 21429" name="adj"/>
            </a:avLst>
          </a:prstGeom>
          <a:solidFill>
            <a:srgbClr val="F0A500"/>
          </a:solidFill>
          <a:ln cap="flat" cmpd="sng" w="12700">
            <a:solidFill>
              <a:srgbClr val="F0A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731520" y="4023360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5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2B5E"/>
                </a:solidFill>
                <a:latin typeface="Calibri"/>
                <a:ea typeface="Calibri"/>
                <a:cs typeface="Calibri"/>
                <a:sym typeface="Calibri"/>
              </a:rPr>
              <a:t>8 خطوات أساسية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B5E"/>
          </a:solidFill>
          <a:ln cap="flat" cmpd="sng" w="12700">
            <a:solidFill>
              <a:srgbClr val="1B2B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خريطة الطريق: ٨ خطوات لبناء براند ناجح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182880" y="1005840"/>
            <a:ext cx="2011680" cy="1737360"/>
          </a:xfrm>
          <a:prstGeom prst="rect">
            <a:avLst/>
          </a:prstGeom>
          <a:solidFill>
            <a:srgbClr val="1B2B5E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274320" y="1097280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274320" y="1600200"/>
            <a:ext cx="18288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أساس البراند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2423160" y="1005840"/>
            <a:ext cx="2011680" cy="1737360"/>
          </a:xfrm>
          <a:prstGeom prst="rect">
            <a:avLst/>
          </a:prstGeom>
          <a:solidFill>
            <a:srgbClr val="2E4080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2514600" y="1097280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2514600" y="1600200"/>
            <a:ext cx="18288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الجمهور المستهدف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4663440" y="1005840"/>
            <a:ext cx="2011680" cy="1737360"/>
          </a:xfrm>
          <a:prstGeom prst="rect">
            <a:avLst/>
          </a:prstGeom>
          <a:solidFill>
            <a:srgbClr val="1B2B5E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4754880" y="1097280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4754880" y="1600200"/>
            <a:ext cx="18288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الهوية البصرية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6903720" y="1005840"/>
            <a:ext cx="2011680" cy="1737360"/>
          </a:xfrm>
          <a:prstGeom prst="rect">
            <a:avLst/>
          </a:prstGeom>
          <a:solidFill>
            <a:srgbClr val="2E4080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6995160" y="1097280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6995160" y="1600200"/>
            <a:ext cx="18288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الصوت والنبرة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182880" y="2926080"/>
            <a:ext cx="2011680" cy="1737360"/>
          </a:xfrm>
          <a:prstGeom prst="rect">
            <a:avLst/>
          </a:prstGeom>
          <a:solidFill>
            <a:srgbClr val="1B2B5E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274320" y="3017520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274320" y="3520440"/>
            <a:ext cx="18288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استراتيجية البراند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2423160" y="2926080"/>
            <a:ext cx="2011680" cy="1737360"/>
          </a:xfrm>
          <a:prstGeom prst="rect">
            <a:avLst/>
          </a:prstGeom>
          <a:solidFill>
            <a:srgbClr val="2E4080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2514600" y="3017520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2514600" y="3520440"/>
            <a:ext cx="18288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البراند الأونلاين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4663440" y="2926080"/>
            <a:ext cx="2011680" cy="1737360"/>
          </a:xfrm>
          <a:prstGeom prst="rect">
            <a:avLst/>
          </a:prstGeom>
          <a:solidFill>
            <a:srgbClr val="1B2B5E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4754880" y="3017520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4754880" y="3520440"/>
            <a:ext cx="18288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حماية البراند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6903720" y="2926080"/>
            <a:ext cx="2011680" cy="1737360"/>
          </a:xfrm>
          <a:prstGeom prst="rect">
            <a:avLst/>
          </a:prstGeom>
          <a:solidFill>
            <a:srgbClr val="2E4080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6995160" y="3017520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6995160" y="3520440"/>
            <a:ext cx="18288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التقييم والتطوير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B5E"/>
          </a:solidFill>
          <a:ln cap="flat" cmpd="sng" w="12700">
            <a:solidFill>
              <a:srgbClr val="1B2B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"/>
          <p:cNvSpPr/>
          <p:nvPr/>
        </p:nvSpPr>
        <p:spPr>
          <a:xfrm>
            <a:off x="182880" y="91440"/>
            <a:ext cx="594360" cy="594360"/>
          </a:xfrm>
          <a:prstGeom prst="ellipse">
            <a:avLst/>
          </a:prstGeom>
          <a:solidFill>
            <a:srgbClr val="F0A500"/>
          </a:solidFill>
          <a:ln cap="flat" cmpd="sng" w="12700">
            <a:solidFill>
              <a:srgbClr val="F0A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182880" y="9144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5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2B5E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914400" y="0"/>
            <a:ext cx="79552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حدد أساس البراند  |  Core Foundation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7132320" y="914400"/>
            <a:ext cx="1645920" cy="1645920"/>
          </a:xfrm>
          <a:prstGeom prst="ellipse">
            <a:avLst/>
          </a:prstGeom>
          <a:solidFill>
            <a:srgbClr val="1B2B5E"/>
          </a:solidFill>
          <a:ln cap="flat" cmpd="sng" w="25400">
            <a:solidFill>
              <a:srgbClr val="2E4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7132320" y="914400"/>
            <a:ext cx="164592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🎯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274320" y="914400"/>
            <a:ext cx="6675120" cy="2834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274320" y="914400"/>
            <a:ext cx="73152" cy="2834640"/>
          </a:xfrm>
          <a:prstGeom prst="rect">
            <a:avLst/>
          </a:prstGeom>
          <a:solidFill>
            <a:srgbClr val="F0A500"/>
          </a:solidFill>
          <a:ln cap="flat" cmpd="sng" w="12700">
            <a:solidFill>
              <a:srgbClr val="F0A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502920" y="1005840"/>
            <a:ext cx="630936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الـ WHY: ليه الشركة موجودة؟ ما هي رسالتها ورؤيتها؟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القيم الجوهرية: المبادئ اللي بتحكم قرارات الشركة وثقافتها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الـ UVP: ماذا تقدم؟ وإيه اللي يميزك عن المنافسين؟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جوهر البراند في كلمتين: مثلاً 'ابتكار موثوق' أو 'خدمة شخصية'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274320" y="3840480"/>
            <a:ext cx="8595360" cy="1005840"/>
          </a:xfrm>
          <a:prstGeom prst="rect">
            <a:avLst/>
          </a:prstGeom>
          <a:solidFill>
            <a:srgbClr val="1B2B5E"/>
          </a:solidFill>
          <a:ln cap="flat" cmpd="sng" w="12700">
            <a:solidFill>
              <a:srgbClr val="1B2B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457200" y="3840480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C948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F7C948"/>
                </a:solidFill>
                <a:latin typeface="Calibri"/>
                <a:ea typeface="Calibri"/>
                <a:cs typeface="Calibri"/>
                <a:sym typeface="Calibri"/>
              </a:rPr>
              <a:t>💡 مثال: Apple = "نفكر بشكل مختلف" → Think Different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B5E"/>
          </a:solidFill>
          <a:ln cap="flat" cmpd="sng" w="12700">
            <a:solidFill>
              <a:srgbClr val="1B2B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182880" y="91440"/>
            <a:ext cx="594360" cy="594360"/>
          </a:xfrm>
          <a:prstGeom prst="ellipse">
            <a:avLst/>
          </a:prstGeom>
          <a:solidFill>
            <a:srgbClr val="F0A500"/>
          </a:solidFill>
          <a:ln cap="flat" cmpd="sng" w="12700">
            <a:solidFill>
              <a:srgbClr val="F0A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4"/>
          <p:cNvSpPr/>
          <p:nvPr/>
        </p:nvSpPr>
        <p:spPr>
          <a:xfrm>
            <a:off x="182880" y="9144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5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2B5E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914400" y="0"/>
            <a:ext cx="79552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اعرف جمهورك  |  Know Your Audience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7132320" y="914400"/>
            <a:ext cx="1645920" cy="1645920"/>
          </a:xfrm>
          <a:prstGeom prst="ellipse">
            <a:avLst/>
          </a:prstGeom>
          <a:solidFill>
            <a:srgbClr val="1B2B5E"/>
          </a:solidFill>
          <a:ln cap="flat" cmpd="sng" w="25400">
            <a:solidFill>
              <a:srgbClr val="2E4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7132320" y="914400"/>
            <a:ext cx="164592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👥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274320" y="914400"/>
            <a:ext cx="6675120" cy="2834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274320" y="914400"/>
            <a:ext cx="73152" cy="2834640"/>
          </a:xfrm>
          <a:prstGeom prst="rect">
            <a:avLst/>
          </a:prstGeom>
          <a:solidFill>
            <a:srgbClr val="F0A500"/>
          </a:solidFill>
          <a:ln cap="flat" cmpd="sng" w="12700">
            <a:solidFill>
              <a:srgbClr val="F0A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4"/>
          <p:cNvSpPr/>
          <p:nvPr/>
        </p:nvSpPr>
        <p:spPr>
          <a:xfrm>
            <a:off x="502920" y="1005840"/>
            <a:ext cx="630936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ابحث عن احتياجات وتحديات وأهداف العميل المثالي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اعمل Customer Personas مفصلة ومحددة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حدد التأثير العاطفي: عاوزه يحس بإيه لما يتعامل مع براندك؟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افهم الفرق بين الـ Need (المنتج) والـ Want (البراند)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274320" y="3840480"/>
            <a:ext cx="8595360" cy="1005840"/>
          </a:xfrm>
          <a:prstGeom prst="rect">
            <a:avLst/>
          </a:prstGeom>
          <a:solidFill>
            <a:srgbClr val="1B2B5E"/>
          </a:solidFill>
          <a:ln cap="flat" cmpd="sng" w="12700">
            <a:solidFill>
              <a:srgbClr val="1B2B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4"/>
          <p:cNvSpPr/>
          <p:nvPr/>
        </p:nvSpPr>
        <p:spPr>
          <a:xfrm>
            <a:off x="457200" y="3840480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C948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F7C948"/>
                </a:solidFill>
                <a:latin typeface="Calibri"/>
                <a:ea typeface="Calibri"/>
                <a:cs typeface="Calibri"/>
                <a:sym typeface="Calibri"/>
              </a:rPr>
              <a:t>💡 مثال: Nike جمهورها مش رياضيين فقط — كل ناس عندها طموح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B5E"/>
          </a:solidFill>
          <a:ln cap="flat" cmpd="sng" w="12700">
            <a:solidFill>
              <a:srgbClr val="1B2B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5"/>
          <p:cNvSpPr/>
          <p:nvPr/>
        </p:nvSpPr>
        <p:spPr>
          <a:xfrm>
            <a:off x="182880" y="91440"/>
            <a:ext cx="594360" cy="594360"/>
          </a:xfrm>
          <a:prstGeom prst="ellipse">
            <a:avLst/>
          </a:prstGeom>
          <a:solidFill>
            <a:srgbClr val="F0A500"/>
          </a:solidFill>
          <a:ln cap="flat" cmpd="sng" w="12700">
            <a:solidFill>
              <a:srgbClr val="F0A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5"/>
          <p:cNvSpPr/>
          <p:nvPr/>
        </p:nvSpPr>
        <p:spPr>
          <a:xfrm>
            <a:off x="182880" y="9144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5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2B5E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914400" y="0"/>
            <a:ext cx="79552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بنِ الهوية البصرية  |  Visual Identity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7132320" y="914400"/>
            <a:ext cx="1645920" cy="1645920"/>
          </a:xfrm>
          <a:prstGeom prst="ellipse">
            <a:avLst/>
          </a:prstGeom>
          <a:solidFill>
            <a:srgbClr val="1B2B5E"/>
          </a:solidFill>
          <a:ln cap="flat" cmpd="sng" w="25400">
            <a:solidFill>
              <a:srgbClr val="2E4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5"/>
          <p:cNvSpPr/>
          <p:nvPr/>
        </p:nvSpPr>
        <p:spPr>
          <a:xfrm>
            <a:off x="7132320" y="914400"/>
            <a:ext cx="164592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🎨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274320" y="914400"/>
            <a:ext cx="6675120" cy="2834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5"/>
          <p:cNvSpPr/>
          <p:nvPr/>
        </p:nvSpPr>
        <p:spPr>
          <a:xfrm>
            <a:off x="274320" y="914400"/>
            <a:ext cx="73152" cy="2834640"/>
          </a:xfrm>
          <a:prstGeom prst="rect">
            <a:avLst/>
          </a:prstGeom>
          <a:solidFill>
            <a:srgbClr val="F0A500"/>
          </a:solidFill>
          <a:ln cap="flat" cmpd="sng" w="12700">
            <a:solidFill>
              <a:srgbClr val="F0A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5"/>
          <p:cNvSpPr/>
          <p:nvPr/>
        </p:nvSpPr>
        <p:spPr>
          <a:xfrm>
            <a:off x="502920" y="1005840"/>
            <a:ext cx="630936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الاسم: سهل النطق، مميز، وله معنى يعبر عن البراند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الـ Logo: بسيط، قابل للتذكر، ويشتغل بكل الأحجام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الألوان: اختار palette محدد ومترابط يعبر عن شخصية البراند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الـ Typography: خطوط بتعكس روح البراند (عصري / تقليدي / مرح)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274320" y="3840480"/>
            <a:ext cx="8595360" cy="1005840"/>
          </a:xfrm>
          <a:prstGeom prst="rect">
            <a:avLst/>
          </a:prstGeom>
          <a:solidFill>
            <a:srgbClr val="1B2B5E"/>
          </a:solidFill>
          <a:ln cap="flat" cmpd="sng" w="12700">
            <a:solidFill>
              <a:srgbClr val="1B2B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"/>
          <p:cNvSpPr/>
          <p:nvPr/>
        </p:nvSpPr>
        <p:spPr>
          <a:xfrm>
            <a:off x="457200" y="3840480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C948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F7C948"/>
                </a:solidFill>
                <a:latin typeface="Calibri"/>
                <a:ea typeface="Calibri"/>
                <a:cs typeface="Calibri"/>
                <a:sym typeface="Calibri"/>
              </a:rPr>
              <a:t>💡 مثال: Coca-Cola الأحمر = الطاقة والمرح / Apple الرمادي = الأناقة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B5E"/>
          </a:solidFill>
          <a:ln cap="flat" cmpd="sng" w="12700">
            <a:solidFill>
              <a:srgbClr val="1B2B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"/>
          <p:cNvSpPr/>
          <p:nvPr/>
        </p:nvSpPr>
        <p:spPr>
          <a:xfrm>
            <a:off x="182880" y="91440"/>
            <a:ext cx="594360" cy="594360"/>
          </a:xfrm>
          <a:prstGeom prst="ellipse">
            <a:avLst/>
          </a:prstGeom>
          <a:solidFill>
            <a:srgbClr val="F0A500"/>
          </a:solidFill>
          <a:ln cap="flat" cmpd="sng" w="12700">
            <a:solidFill>
              <a:srgbClr val="F0A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"/>
          <p:cNvSpPr/>
          <p:nvPr/>
        </p:nvSpPr>
        <p:spPr>
          <a:xfrm>
            <a:off x="182880" y="9144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5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2B5E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914400" y="0"/>
            <a:ext cx="79552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حدد صوت ونبرة البراند  |  Brand Voice &amp; Tone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7132320" y="914400"/>
            <a:ext cx="1645920" cy="1645920"/>
          </a:xfrm>
          <a:prstGeom prst="ellipse">
            <a:avLst/>
          </a:prstGeom>
          <a:solidFill>
            <a:srgbClr val="1B2B5E"/>
          </a:solidFill>
          <a:ln cap="flat" cmpd="sng" w="25400">
            <a:solidFill>
              <a:srgbClr val="2E4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"/>
          <p:cNvSpPr/>
          <p:nvPr/>
        </p:nvSpPr>
        <p:spPr>
          <a:xfrm>
            <a:off x="7132320" y="914400"/>
            <a:ext cx="164592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🗣️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274320" y="914400"/>
            <a:ext cx="6675120" cy="2834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"/>
          <p:cNvSpPr/>
          <p:nvPr/>
        </p:nvSpPr>
        <p:spPr>
          <a:xfrm>
            <a:off x="274320" y="914400"/>
            <a:ext cx="73152" cy="2834640"/>
          </a:xfrm>
          <a:prstGeom prst="rect">
            <a:avLst/>
          </a:prstGeom>
          <a:solidFill>
            <a:srgbClr val="F0A500"/>
          </a:solidFill>
          <a:ln cap="flat" cmpd="sng" w="12700">
            <a:solidFill>
              <a:srgbClr val="F0A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6"/>
          <p:cNvSpPr/>
          <p:nvPr/>
        </p:nvSpPr>
        <p:spPr>
          <a:xfrm>
            <a:off x="502920" y="1005840"/>
            <a:ext cx="630936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الـ Voice: الشخصية الثابتة في كل التواصل (من أنت؟)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الـ Tone: النبرة المتغيرة حسب السياق (كيف تحس الآن؟)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اكتب Brand Story مقنعة توضح الـ WHY مش بس الـ WHAT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ثبت الـ Voice في كل القنوات: سوشيال، موقع، خدمة عملاء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274320" y="3840480"/>
            <a:ext cx="8595360" cy="1005840"/>
          </a:xfrm>
          <a:prstGeom prst="rect">
            <a:avLst/>
          </a:prstGeom>
          <a:solidFill>
            <a:srgbClr val="1B2B5E"/>
          </a:solidFill>
          <a:ln cap="flat" cmpd="sng" w="12700">
            <a:solidFill>
              <a:srgbClr val="1B2B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"/>
          <p:cNvSpPr/>
          <p:nvPr/>
        </p:nvSpPr>
        <p:spPr>
          <a:xfrm>
            <a:off x="457200" y="3840480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C948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F7C948"/>
                </a:solidFill>
                <a:latin typeface="Calibri"/>
                <a:ea typeface="Calibri"/>
                <a:cs typeface="Calibri"/>
                <a:sym typeface="Calibri"/>
              </a:rPr>
              <a:t>💡 مثال: Nike (قوي/ملهم) — Mailchimp (ودود/بسيط) — Apple (واضح/أنيق)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B5E"/>
          </a:solidFill>
          <a:ln cap="flat" cmpd="sng" w="12700">
            <a:solidFill>
              <a:srgbClr val="1B2B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"/>
          <p:cNvSpPr/>
          <p:nvPr/>
        </p:nvSpPr>
        <p:spPr>
          <a:xfrm>
            <a:off x="182880" y="91440"/>
            <a:ext cx="594360" cy="594360"/>
          </a:xfrm>
          <a:prstGeom prst="ellipse">
            <a:avLst/>
          </a:prstGeom>
          <a:solidFill>
            <a:srgbClr val="F0A500"/>
          </a:solidFill>
          <a:ln cap="flat" cmpd="sng" w="12700">
            <a:solidFill>
              <a:srgbClr val="F0A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7"/>
          <p:cNvSpPr/>
          <p:nvPr/>
        </p:nvSpPr>
        <p:spPr>
          <a:xfrm>
            <a:off x="182880" y="9144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Clr>
                <a:srgbClr val="1B2B5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2B5E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914400" y="0"/>
            <a:ext cx="79552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ضع استراتيجية البراند  |  Brand Strategy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7132320" y="914400"/>
            <a:ext cx="1645920" cy="1645920"/>
          </a:xfrm>
          <a:prstGeom prst="ellipse">
            <a:avLst/>
          </a:prstGeom>
          <a:solidFill>
            <a:srgbClr val="1B2B5E"/>
          </a:solidFill>
          <a:ln cap="flat" cmpd="sng" w="25400">
            <a:solidFill>
              <a:srgbClr val="2E4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"/>
          <p:cNvSpPr/>
          <p:nvPr/>
        </p:nvSpPr>
        <p:spPr>
          <a:xfrm>
            <a:off x="7132320" y="914400"/>
            <a:ext cx="164592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♟️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274320" y="914400"/>
            <a:ext cx="6675120" cy="2834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7"/>
          <p:cNvSpPr/>
          <p:nvPr/>
        </p:nvSpPr>
        <p:spPr>
          <a:xfrm>
            <a:off x="274320" y="914400"/>
            <a:ext cx="73152" cy="2834640"/>
          </a:xfrm>
          <a:prstGeom prst="rect">
            <a:avLst/>
          </a:prstGeom>
          <a:solidFill>
            <a:srgbClr val="F0A500"/>
          </a:solidFill>
          <a:ln cap="flat" cmpd="sng" w="12700">
            <a:solidFill>
              <a:srgbClr val="F0A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7"/>
          <p:cNvSpPr/>
          <p:nvPr/>
        </p:nvSpPr>
        <p:spPr>
          <a:xfrm>
            <a:off x="502920" y="1005840"/>
            <a:ext cx="630936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1" algn="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Line Extension: أضف منتجات جديدة تحت نفس البراند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1" algn="r">
              <a:spcBef>
                <a:spcPts val="80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Brand Extension: استخدم البراند الناجح في فئات جديدة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1" algn="r">
              <a:spcBef>
                <a:spcPts val="80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Multi-Branding: أطلق براندات متعددة في نفس الفئة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1" algn="r">
              <a:spcBef>
                <a:spcPts val="80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Family vs Individual Branding: حدد هيكل إدارة البراندات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274320" y="3840480"/>
            <a:ext cx="8595360" cy="1005840"/>
          </a:xfrm>
          <a:prstGeom prst="rect">
            <a:avLst/>
          </a:prstGeom>
          <a:solidFill>
            <a:srgbClr val="1B2B5E"/>
          </a:solidFill>
          <a:ln cap="flat" cmpd="sng" w="12700">
            <a:solidFill>
              <a:srgbClr val="1B2B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7"/>
          <p:cNvSpPr/>
          <p:nvPr/>
        </p:nvSpPr>
        <p:spPr>
          <a:xfrm>
            <a:off x="457200" y="3840480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F7C948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F7C948"/>
                </a:solidFill>
                <a:latin typeface="Calibri"/>
                <a:ea typeface="Calibri"/>
                <a:cs typeface="Calibri"/>
                <a:sym typeface="Calibri"/>
              </a:rPr>
              <a:t>💡 مثال: Virgin من الموسيقى → الطيران → الاتصالات → البنوك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B5E"/>
          </a:solidFill>
          <a:ln cap="flat" cmpd="sng" w="12700">
            <a:solidFill>
              <a:srgbClr val="1B2B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8"/>
          <p:cNvSpPr/>
          <p:nvPr/>
        </p:nvSpPr>
        <p:spPr>
          <a:xfrm>
            <a:off x="182880" y="91440"/>
            <a:ext cx="594360" cy="594360"/>
          </a:xfrm>
          <a:prstGeom prst="ellipse">
            <a:avLst/>
          </a:prstGeom>
          <a:solidFill>
            <a:srgbClr val="F0A500"/>
          </a:solidFill>
          <a:ln cap="flat" cmpd="sng" w="12700">
            <a:solidFill>
              <a:srgbClr val="F0A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8"/>
          <p:cNvSpPr/>
          <p:nvPr/>
        </p:nvSpPr>
        <p:spPr>
          <a:xfrm>
            <a:off x="182880" y="9144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Clr>
                <a:srgbClr val="1B2B5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2B5E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914400" y="0"/>
            <a:ext cx="79552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اشتغل على البراند الأونلاين  |  Online Branding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7132320" y="914400"/>
            <a:ext cx="1645920" cy="1645920"/>
          </a:xfrm>
          <a:prstGeom prst="ellipse">
            <a:avLst/>
          </a:prstGeom>
          <a:solidFill>
            <a:srgbClr val="1B2B5E"/>
          </a:solidFill>
          <a:ln cap="flat" cmpd="sng" w="25400">
            <a:solidFill>
              <a:srgbClr val="2E4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8"/>
          <p:cNvSpPr/>
          <p:nvPr/>
        </p:nvSpPr>
        <p:spPr>
          <a:xfrm>
            <a:off x="7132320" y="914400"/>
            <a:ext cx="164592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🌐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8"/>
          <p:cNvSpPr/>
          <p:nvPr/>
        </p:nvSpPr>
        <p:spPr>
          <a:xfrm>
            <a:off x="274320" y="914400"/>
            <a:ext cx="6675120" cy="2834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8"/>
          <p:cNvSpPr/>
          <p:nvPr/>
        </p:nvSpPr>
        <p:spPr>
          <a:xfrm>
            <a:off x="274320" y="914400"/>
            <a:ext cx="73152" cy="2834640"/>
          </a:xfrm>
          <a:prstGeom prst="rect">
            <a:avLst/>
          </a:prstGeom>
          <a:solidFill>
            <a:srgbClr val="F0A500"/>
          </a:solidFill>
          <a:ln cap="flat" cmpd="sng" w="12700">
            <a:solidFill>
              <a:srgbClr val="F0A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8"/>
          <p:cNvSpPr/>
          <p:nvPr/>
        </p:nvSpPr>
        <p:spPr>
          <a:xfrm>
            <a:off x="502920" y="1005840"/>
            <a:ext cx="630936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1" algn="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ابني هوية رقمية متسقة على كل المنصات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1" algn="r">
              <a:spcBef>
                <a:spcPts val="80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شارك قصة البراند وشخصيته بمحتوى منتظم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1" algn="r">
              <a:spcBef>
                <a:spcPts val="80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استخدم User-Generated Content (UGC) لبناء الثقة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1" algn="r">
              <a:spcBef>
                <a:spcPts val="80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طور شبكة Influencers ونظام مكافآت للعملاء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274320" y="3840480"/>
            <a:ext cx="8595360" cy="1005840"/>
          </a:xfrm>
          <a:prstGeom prst="rect">
            <a:avLst/>
          </a:prstGeom>
          <a:solidFill>
            <a:srgbClr val="1B2B5E"/>
          </a:solidFill>
          <a:ln cap="flat" cmpd="sng" w="12700">
            <a:solidFill>
              <a:srgbClr val="1B2B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8"/>
          <p:cNvSpPr/>
          <p:nvPr/>
        </p:nvSpPr>
        <p:spPr>
          <a:xfrm>
            <a:off x="457200" y="3840480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F7C948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F7C948"/>
                </a:solidFill>
                <a:latin typeface="Calibri"/>
                <a:ea typeface="Calibri"/>
                <a:cs typeface="Calibri"/>
                <a:sym typeface="Calibri"/>
              </a:rPr>
              <a:t>💡 مثال: Red Bull يشجع المستخدمين ينشروا محتوى رياضي باسم البراند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B5E"/>
          </a:solidFill>
          <a:ln cap="flat" cmpd="sng" w="12700">
            <a:solidFill>
              <a:srgbClr val="1B2B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9"/>
          <p:cNvSpPr/>
          <p:nvPr/>
        </p:nvSpPr>
        <p:spPr>
          <a:xfrm>
            <a:off x="182880" y="91440"/>
            <a:ext cx="594360" cy="594360"/>
          </a:xfrm>
          <a:prstGeom prst="ellipse">
            <a:avLst/>
          </a:prstGeom>
          <a:solidFill>
            <a:srgbClr val="F0A500"/>
          </a:solidFill>
          <a:ln cap="flat" cmpd="sng" w="12700">
            <a:solidFill>
              <a:srgbClr val="F0A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9"/>
          <p:cNvSpPr/>
          <p:nvPr/>
        </p:nvSpPr>
        <p:spPr>
          <a:xfrm>
            <a:off x="182880" y="9144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Clr>
                <a:srgbClr val="1B2B5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2B5E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9"/>
          <p:cNvSpPr/>
          <p:nvPr/>
        </p:nvSpPr>
        <p:spPr>
          <a:xfrm>
            <a:off x="914400" y="0"/>
            <a:ext cx="79552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احمِ البراند بتاعك  |  Brand Protection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9"/>
          <p:cNvSpPr/>
          <p:nvPr/>
        </p:nvSpPr>
        <p:spPr>
          <a:xfrm>
            <a:off x="7132320" y="914400"/>
            <a:ext cx="1645920" cy="1645920"/>
          </a:xfrm>
          <a:prstGeom prst="ellipse">
            <a:avLst/>
          </a:prstGeom>
          <a:solidFill>
            <a:srgbClr val="1B2B5E"/>
          </a:solidFill>
          <a:ln cap="flat" cmpd="sng" w="25400">
            <a:solidFill>
              <a:srgbClr val="2E4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9"/>
          <p:cNvSpPr/>
          <p:nvPr/>
        </p:nvSpPr>
        <p:spPr>
          <a:xfrm>
            <a:off x="7132320" y="914400"/>
            <a:ext cx="164592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🛡️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274320" y="914400"/>
            <a:ext cx="6675120" cy="2834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9"/>
          <p:cNvSpPr/>
          <p:nvPr/>
        </p:nvSpPr>
        <p:spPr>
          <a:xfrm>
            <a:off x="274320" y="914400"/>
            <a:ext cx="73152" cy="2834640"/>
          </a:xfrm>
          <a:prstGeom prst="rect">
            <a:avLst/>
          </a:prstGeom>
          <a:solidFill>
            <a:srgbClr val="F0A500"/>
          </a:solidFill>
          <a:ln cap="flat" cmpd="sng" w="12700">
            <a:solidFill>
              <a:srgbClr val="F0A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9"/>
          <p:cNvSpPr/>
          <p:nvPr/>
        </p:nvSpPr>
        <p:spPr>
          <a:xfrm>
            <a:off x="502920" y="1005840"/>
            <a:ext cx="630936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1" algn="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Copyright: يحمي الأعمال الإبداعية تلقائياً (كتابة، موسيقى، برامج)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1" algn="r">
              <a:spcBef>
                <a:spcPts val="80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Trademark: يحمي الاسم والـ Logo — يحتاج تسجيل رسمي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1" algn="r">
              <a:spcBef>
                <a:spcPts val="80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Patent: يحمي الاختراعات والعمليات الجديدة — يحتاج تسجيل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1" algn="r">
              <a:spcBef>
                <a:spcPts val="80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راقب السوق بانتظام لأي تقليد أو انتهاك لحقوقك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9"/>
          <p:cNvSpPr/>
          <p:nvPr/>
        </p:nvSpPr>
        <p:spPr>
          <a:xfrm>
            <a:off x="274320" y="3840480"/>
            <a:ext cx="8595360" cy="1005840"/>
          </a:xfrm>
          <a:prstGeom prst="rect">
            <a:avLst/>
          </a:prstGeom>
          <a:solidFill>
            <a:srgbClr val="1B2B5E"/>
          </a:solidFill>
          <a:ln cap="flat" cmpd="sng" w="12700">
            <a:solidFill>
              <a:srgbClr val="1B2B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9"/>
          <p:cNvSpPr/>
          <p:nvPr/>
        </p:nvSpPr>
        <p:spPr>
          <a:xfrm>
            <a:off x="457200" y="3840480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F7C948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F7C948"/>
                </a:solidFill>
                <a:latin typeface="Calibri"/>
                <a:ea typeface="Calibri"/>
                <a:cs typeface="Calibri"/>
                <a:sym typeface="Calibri"/>
              </a:rPr>
              <a:t>💡 مثال: Nike تقاضت شركات كثيرة بسبب تقليد الـ Swoosh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B5E"/>
          </a:solidFill>
          <a:ln cap="flat" cmpd="sng" w="12700">
            <a:solidFill>
              <a:srgbClr val="1B2B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0"/>
          <p:cNvSpPr/>
          <p:nvPr/>
        </p:nvSpPr>
        <p:spPr>
          <a:xfrm>
            <a:off x="182880" y="91440"/>
            <a:ext cx="594360" cy="594360"/>
          </a:xfrm>
          <a:prstGeom prst="ellipse">
            <a:avLst/>
          </a:prstGeom>
          <a:solidFill>
            <a:srgbClr val="F0A500"/>
          </a:solidFill>
          <a:ln cap="flat" cmpd="sng" w="12700">
            <a:solidFill>
              <a:srgbClr val="F0A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0"/>
          <p:cNvSpPr/>
          <p:nvPr/>
        </p:nvSpPr>
        <p:spPr>
          <a:xfrm>
            <a:off x="182880" y="9144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Clr>
                <a:srgbClr val="1B2B5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2B5E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0"/>
          <p:cNvSpPr/>
          <p:nvPr/>
        </p:nvSpPr>
        <p:spPr>
          <a:xfrm>
            <a:off x="914400" y="0"/>
            <a:ext cx="79552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قيّم وطور باستمرار  |  Audit &amp; Refine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0"/>
          <p:cNvSpPr/>
          <p:nvPr/>
        </p:nvSpPr>
        <p:spPr>
          <a:xfrm>
            <a:off x="7132320" y="914400"/>
            <a:ext cx="1645920" cy="1645920"/>
          </a:xfrm>
          <a:prstGeom prst="ellipse">
            <a:avLst/>
          </a:prstGeom>
          <a:solidFill>
            <a:srgbClr val="1B2B5E"/>
          </a:solidFill>
          <a:ln cap="flat" cmpd="sng" w="25400">
            <a:solidFill>
              <a:srgbClr val="2E4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0"/>
          <p:cNvSpPr/>
          <p:nvPr/>
        </p:nvSpPr>
        <p:spPr>
          <a:xfrm>
            <a:off x="7132320" y="914400"/>
            <a:ext cx="164592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📊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0"/>
          <p:cNvSpPr/>
          <p:nvPr/>
        </p:nvSpPr>
        <p:spPr>
          <a:xfrm>
            <a:off x="274320" y="914400"/>
            <a:ext cx="6675120" cy="2834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0"/>
          <p:cNvSpPr/>
          <p:nvPr/>
        </p:nvSpPr>
        <p:spPr>
          <a:xfrm>
            <a:off x="274320" y="914400"/>
            <a:ext cx="73152" cy="2834640"/>
          </a:xfrm>
          <a:prstGeom prst="rect">
            <a:avLst/>
          </a:prstGeom>
          <a:solidFill>
            <a:srgbClr val="F0A500"/>
          </a:solidFill>
          <a:ln cap="flat" cmpd="sng" w="12700">
            <a:solidFill>
              <a:srgbClr val="F0A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0"/>
          <p:cNvSpPr/>
          <p:nvPr/>
        </p:nvSpPr>
        <p:spPr>
          <a:xfrm>
            <a:off x="502920" y="1005840"/>
            <a:ext cx="630936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1" algn="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SWOT Analysis: قيّم نقاط القوة والضعف والفرص والتهديدات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1" algn="r">
              <a:spcBef>
                <a:spcPts val="80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اجمع Feedback من العملاء والموظفين بانتظام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1" algn="r">
              <a:spcBef>
                <a:spcPts val="80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قيس Brand Equity: الوعي، الولاء، الجودة المدركة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1" algn="r">
              <a:spcBef>
                <a:spcPts val="80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ثبت الـ Consistency في كل نقاط التواصل مع العميل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0"/>
          <p:cNvSpPr/>
          <p:nvPr/>
        </p:nvSpPr>
        <p:spPr>
          <a:xfrm>
            <a:off x="274320" y="3840480"/>
            <a:ext cx="8595360" cy="1005840"/>
          </a:xfrm>
          <a:prstGeom prst="rect">
            <a:avLst/>
          </a:prstGeom>
          <a:solidFill>
            <a:srgbClr val="1B2B5E"/>
          </a:solidFill>
          <a:ln cap="flat" cmpd="sng" w="12700">
            <a:solidFill>
              <a:srgbClr val="1B2B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0"/>
          <p:cNvSpPr/>
          <p:nvPr/>
        </p:nvSpPr>
        <p:spPr>
          <a:xfrm>
            <a:off x="457200" y="3840480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F7C948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F7C948"/>
                </a:solidFill>
                <a:latin typeface="Calibri"/>
                <a:ea typeface="Calibri"/>
                <a:cs typeface="Calibri"/>
                <a:sym typeface="Calibri"/>
              </a:rPr>
              <a:t>💡 مثال: Pepsi طورت الـ Logo أكثر من 10 مرات مع الحفاظ على الهوية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B5E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1"/>
          <p:cNvSpPr/>
          <p:nvPr/>
        </p:nvSpPr>
        <p:spPr>
          <a:xfrm>
            <a:off x="-914400" y="2286000"/>
            <a:ext cx="3657600" cy="3657600"/>
          </a:xfrm>
          <a:prstGeom prst="ellipse">
            <a:avLst/>
          </a:prstGeom>
          <a:solidFill>
            <a:srgbClr val="2E4080">
              <a:alpha val="40000"/>
            </a:srgbClr>
          </a:solidFill>
          <a:ln cap="flat" cmpd="sng" w="12700">
            <a:solidFill>
              <a:srgbClr val="2E4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1"/>
          <p:cNvSpPr/>
          <p:nvPr/>
        </p:nvSpPr>
        <p:spPr>
          <a:xfrm>
            <a:off x="7315200" y="-457200"/>
            <a:ext cx="2743200" cy="2743200"/>
          </a:xfrm>
          <a:prstGeom prst="ellipse">
            <a:avLst/>
          </a:prstGeom>
          <a:solidFill>
            <a:srgbClr val="F0A500">
              <a:alpha val="25098"/>
            </a:srgbClr>
          </a:solidFill>
          <a:ln cap="flat" cmpd="sng" w="12700">
            <a:solidFill>
              <a:srgbClr val="F0A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1"/>
          <p:cNvSpPr/>
          <p:nvPr/>
        </p:nvSpPr>
        <p:spPr>
          <a:xfrm>
            <a:off x="3474720" y="457200"/>
            <a:ext cx="21945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Calibri"/>
              <a:buNone/>
            </a:pPr>
            <a:r>
              <a:rPr b="0" i="0" lang="en-US" sz="4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✅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1"/>
          <p:cNvSpPr/>
          <p:nvPr/>
        </p:nvSpPr>
        <p:spPr>
          <a:xfrm>
            <a:off x="914400" y="1463040"/>
            <a:ext cx="7315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جاهز تبني براندك؟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1"/>
          <p:cNvSpPr/>
          <p:nvPr/>
        </p:nvSpPr>
        <p:spPr>
          <a:xfrm>
            <a:off x="731520" y="2468880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✦  حدد أساس البراند والـ WHY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1"/>
          <p:cNvSpPr/>
          <p:nvPr/>
        </p:nvSpPr>
        <p:spPr>
          <a:xfrm>
            <a:off x="731520" y="3017520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F7C94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7C948"/>
                </a:solidFill>
                <a:latin typeface="Calibri"/>
                <a:ea typeface="Calibri"/>
                <a:cs typeface="Calibri"/>
                <a:sym typeface="Calibri"/>
              </a:rPr>
              <a:t>✦  اعرف جمهورك المستهدف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1"/>
          <p:cNvSpPr/>
          <p:nvPr/>
        </p:nvSpPr>
        <p:spPr>
          <a:xfrm>
            <a:off x="731520" y="3566160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✦  ابني هويتك البصرية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1"/>
          <p:cNvSpPr/>
          <p:nvPr/>
        </p:nvSpPr>
        <p:spPr>
          <a:xfrm>
            <a:off x="731520" y="4114800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F7C94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7C948"/>
                </a:solidFill>
                <a:latin typeface="Calibri"/>
                <a:ea typeface="Calibri"/>
                <a:cs typeface="Calibri"/>
                <a:sym typeface="Calibri"/>
              </a:rPr>
              <a:t>✦  طور صوتك ونبرتك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1"/>
          <p:cNvSpPr/>
          <p:nvPr/>
        </p:nvSpPr>
        <p:spPr>
          <a:xfrm>
            <a:off x="4846320" y="2468880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✦  ضع الاستراتيجية المناسبة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1"/>
          <p:cNvSpPr/>
          <p:nvPr/>
        </p:nvSpPr>
        <p:spPr>
          <a:xfrm>
            <a:off x="4846320" y="3017520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F7C94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7C948"/>
                </a:solidFill>
                <a:latin typeface="Calibri"/>
                <a:ea typeface="Calibri"/>
                <a:cs typeface="Calibri"/>
                <a:sym typeface="Calibri"/>
              </a:rPr>
              <a:t>✦  اشتغل على الأونلاين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1"/>
          <p:cNvSpPr/>
          <p:nvPr/>
        </p:nvSpPr>
        <p:spPr>
          <a:xfrm>
            <a:off x="4846320" y="3566160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✦  احمِ براندك قانونياً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1"/>
          <p:cNvSpPr/>
          <p:nvPr/>
        </p:nvSpPr>
        <p:spPr>
          <a:xfrm>
            <a:off x="4846320" y="4114800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F7C94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7C948"/>
                </a:solidFill>
                <a:latin typeface="Calibri"/>
                <a:ea typeface="Calibri"/>
                <a:cs typeface="Calibri"/>
                <a:sym typeface="Calibri"/>
              </a:rPr>
              <a:t>✦  قيّم وطور باستمرار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2026-05-12T09:05:10Z</dcterms:created>
  <dc:creator>PptxGenJS</dc:creator>
</cp:coreProperties>
</file>